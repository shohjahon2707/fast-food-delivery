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проект «Тёпло · Fast Food Delivery». Команда: Саидов Шохжахон и Самиев Аюбхон. Презентация подготовлена по четырём заданиям из предоставленной инструкции: описание проекта, проектная команда, пользовательские и функциональные требования. Иллюстрация из существующего проекта является демонстрационной, а не фотографией реального блюда ресторана.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Целевая аудитория покупателей — студенты, работающие люди и семьи в зоне доставки одной кухни. Сотрудники кухни, одобренные курьеры и администратор работают в отдельных кабинетах. Цель проекта — обеспечить сквозной процесс оформления, приготовления, назначения и вручения заказа. Проект рассчитан на одну кухню; мобильное приложение, несколько ресторанов и онлайн-эквайринг в текущий объём не входят.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Покупатель хочет зарегистрироваться, восстановить доступ, найти блюдо через поиск и фильтры, управлять личной корзиной, оформить заказ с адресом без обязательной карты, видеть свои заказы, отменить заказ до приготовления или направить обращение позже. Курьер хочет выйти на смену после одобрения, осознанно включить GPS, получать персональные предложения и сообщать о проблемах. Кухне нужна очередь с составом и пожеланиями. Администратору нужны каталог, настройки кухни, обращения и контроль диспетчера. Общие требования — мобильный интерфейс и защита личных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Обязательные функции: регистрация и вход по логину/паролю, восстановление доступа, профиль, каталог с поиском и фильтрами, корзина, расчёт доставки, оформление и история. По умолчанию доставка 10 000 сум, от стоимости блюд 100 000 сум — бесплатно. Оформление атомарно, повтор одного UUID не создаёт второй заказ. Диспетчер учитывает свежий GPS до трёх минут и точность до 200 м, работает отдельно от сайта. У курьера одна текущая доставка и одно предложение следующего заказа. Чужое или просроченное предложение принять нельзя. Кухня вручную отмечает начало готовки и готовность. До приготовления покупатель отменяет заказ самостоятельно; позже открывает обращение. Назначенный курьер явно подтверждает вручение и получение полной суммы наличными.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Платформа — веб-приложение для мобильного и настольного браузера. На слайде показан реальный скриншот из репозитория. Интерфейс использует Django Templates, HTML, CSS и JavaScript. Для локального запуска применяется SQLite; PostgreSQL нужен для конкурентных операций и нескольких процессов. Web и dispatch_orders --loop запускаются отдельно. Для production используются Gunicorn и WhiteNoise. Требования к UX: подписи форм, понятные ошибки, управление клавиатурой, видимый фокус, текстовые статусы, поддержка prefers-reduced-motion. Целевые ширины проверки: 360, 390, 768 и 1280 px; новая браузерная проверка в ходе подготовки презентации не выполнялась.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Приватные страницы и JSON имеют Cache-Control: private, no-store. Контакты покупателя выдаются курьеру после фактического забора назначенного заказа. Пароли обрабатывает Django; production требует HTTPS и отдельного секретного ключа. Изменения выполняются через POST с CSRF и проверкой роли. Интеграции: Leaflet поставляется локально, тайлы OpenStreetMap загружаются при открытии карты с атрибуцией; GPS требует разрешения и HTTPS в интернете. SMTP нужен для настоящей доставки писем, локально используется console backend. Redis — дополнительный общий кэш для нескольких процессов. Транзакционные проверки конкуренции требуют PostgreSQL. Целевой показатель производительности из требований — 95% из 100 прогретых последовательных запросов меню до 2 секунд; такой замер не выполнялся.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Распределение ответственности предложено для учебного проекта, оно не является утверждением об авторстве всего существующего кода. Саидов Шохжахон — менеджер, backend-разработчик, ответственный за базу, диспетчер и среду. Самиев Аюбхон — бизнес-аналитик, frontend-разработчик и UI/UX-дизайнер. QA выполняют оба с взаимной проверкой. Заказчик рассматривается как учебная модель представителя кухни: внешний реальный заказчик не заявлен. План — четыре учебные недели от согласованного старта: анализ; проверка сервера; интерфейс; приёмка и защита. Календарный дедлайн не задан. 0 сум — план прямых расходов при локальном использовании бесплатных инструментов; труд, публичный сервер, домен и почта в эту оценку не включены.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Подтверждённые проверки взяты из результатов настройки этого проекта: 60 тестов обнаружено, 56 прошли, четыре PostgreSQL-проверки конкуренции пропущены на SQLite. Выполнены pip check, миграции, повторный seed_menu без дублей, Django check, makemigrations --check --dry-run, Ruff и production-сборка статики с временным тестовым ключом. HTTP-проверки подтвердили меню, формы регистрации и входа, а также обновление last_dispatch_at. Это не свидетельствует о выполнении полного браузерного протокола приёмки или публичного запуска. Дальнейшая приёмка: заказ от корзины до вручения с подтверждением наличных, роли и чужие данные, таймаут предложения, PostgreSQL-конкуренция, адаптивность, SMTP. Источники: README.md, docs/DEPLOYMENT.md, docs/requirements/PROJECT_REQUIREMENTS.md, формы и тесты репозитория Shohjahon2707/Fast-Food-delivery. Презентация подготовлена по документу с четырьмя заданиями, без новых изменений и публикаций в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УЧЕБНЫЙ ПРОЕКТ · ТРЕБОВАНИЯ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01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8272" y="1078992"/>
            <a:ext cx="4937760" cy="502920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nu.png"/>
          <p:cNvPicPr>
            <a:picLocks noChangeAspect="1"/>
          </p:cNvPicPr>
          <p:nvPr/>
        </p:nvPicPr>
        <p:blipFill>
          <a:blip r:embed="rId2"/>
          <a:srcRect r="66667" b="50000"/>
          <a:stretch>
            <a:fillRect/>
          </a:stretch>
        </p:blipFill>
        <p:spPr>
          <a:xfrm>
            <a:off x="6903720" y="1261872"/>
            <a:ext cx="4599432" cy="459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216152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1">
                <a:solidFill>
                  <a:srgbClr val="B9DE75"/>
                </a:solidFill>
                <a:latin typeface="DejaVu Sans"/>
              </a:defRPr>
            </a:pPr>
            <a:r>
              <a:t>ОДНА КУХНЯ. ЕДИНЫЙ ПРОЦЕСС.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6035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6600" b="1">
                <a:solidFill>
                  <a:srgbClr val="F5F2EA"/>
                </a:solidFill>
                <a:latin typeface="DejaVu Sans"/>
              </a:defRPr>
            </a:pPr>
            <a:r>
              <a:t>ТЁПЛО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953512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900" b="1">
                <a:solidFill>
                  <a:srgbClr val="FF782E"/>
                </a:solidFill>
                <a:latin typeface="DejaVu Sans"/>
              </a:defRPr>
            </a:pPr>
            <a:r>
              <a:t>Fast Food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703320"/>
            <a:ext cx="5715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800" b="0">
                <a:solidFill>
                  <a:srgbClr val="B4BAB3"/>
                </a:solidFill>
                <a:latin typeface="DejaVu Sans"/>
              </a:defRPr>
            </a:pPr>
            <a:r>
              <a:t>Веб-сервис заказа и доставки еды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800" b="0">
                <a:solidFill>
                  <a:srgbClr val="B4BAB3"/>
                </a:solidFill>
                <a:latin typeface="DejaVu Sans"/>
              </a:defRPr>
            </a:pPr>
            <a:r>
              <a:t>Требования, команда и критерии качества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864608"/>
            <a:ext cx="5394960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138928"/>
            <a:ext cx="5715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1">
                <a:solidFill>
                  <a:srgbClr val="F5F2EA"/>
                </a:solidFill>
                <a:latin typeface="DejaVu Sans"/>
              </a:defRPr>
            </a:pPr>
            <a:r>
              <a:t>Саидов Шохжахон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 b="1">
                <a:solidFill>
                  <a:srgbClr val="F5F2EA"/>
                </a:solidFill>
                <a:latin typeface="DejaVu Sans"/>
              </a:defRPr>
            </a:pPr>
            <a:r>
              <a:t>Самиев Аюбхон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01 · ОПИСАНИЕ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От выбора блюда до вручения заказа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Цель — сделать заказ понятным покупателю и управляемым для команды кухни.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02 /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1401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ПРОБЛЕМА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89504"/>
            <a:ext cx="3703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300" b="1">
                <a:solidFill>
                  <a:srgbClr val="F5F2EA"/>
                </a:solidFill>
                <a:latin typeface="DejaVu Sans"/>
              </a:defRPr>
            </a:pPr>
            <a:r>
              <a:t>Заказ, кухня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300" b="1">
                <a:solidFill>
                  <a:srgbClr val="F5F2EA"/>
                </a:solidFill>
                <a:latin typeface="DejaVu Sans"/>
              </a:defRPr>
            </a:pPr>
            <a:r>
              <a:t>и курьер работают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300" b="1">
                <a:solidFill>
                  <a:srgbClr val="F5F2EA"/>
                </a:solidFill>
                <a:latin typeface="DejaVu Sans"/>
              </a:defRPr>
            </a:pPr>
            <a:r>
              <a:t>согласованно.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754880"/>
            <a:ext cx="37033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700" b="0">
                <a:solidFill>
                  <a:srgbClr val="B4BAB3"/>
                </a:solidFill>
                <a:latin typeface="DejaVu Sans"/>
              </a:defRPr>
            </a:pPr>
            <a:r>
              <a:t>Сервис сохраняет состав и цену,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700" b="0">
                <a:solidFill>
                  <a:srgbClr val="B4BAB3"/>
                </a:solidFill>
                <a:latin typeface="DejaVu Sans"/>
              </a:defRPr>
            </a:pPr>
            <a:r>
              <a:t>показывает этапы и помогает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700" b="0">
                <a:solidFill>
                  <a:srgbClr val="B4BAB3"/>
                </a:solidFill>
                <a:latin typeface="DejaVu Sans"/>
              </a:defRPr>
            </a:pPr>
            <a:r>
              <a:t>обрабатывать исключения.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42316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01 / ПОКУПАТЕЛЬ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1752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Удобный заказ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630168"/>
            <a:ext cx="29809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800600" y="350215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4BAB3"/>
                </a:solidFill>
                <a:latin typeface="DejaVu Sans"/>
              </a:defRPr>
            </a:pPr>
            <a:r>
              <a:t>Меню, сумма, адрес, статус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2423160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60604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02 / КУРЬЕР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017520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Своя доставка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630168"/>
            <a:ext cx="29809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449056" y="350215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4BAB3"/>
                </a:solidFill>
                <a:latin typeface="DejaVu Sans"/>
              </a:defRPr>
            </a:pPr>
            <a:r>
              <a:t>Смена и персональный заказ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4242816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42569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03 / КУХНЯ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837176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Общая очередь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449824"/>
            <a:ext cx="29809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800600" y="532180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4BAB3"/>
                </a:solidFill>
                <a:latin typeface="DejaVu Sans"/>
              </a:defRPr>
            </a:pPr>
            <a:r>
              <a:t>Состав, пожелания, готовность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8744" y="4242816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442569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04 / АДМИНИСТРАТОР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4837176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Контроль работы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5449824"/>
            <a:ext cx="29809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449056" y="532180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4BAB3"/>
                </a:solidFill>
                <a:latin typeface="DejaVu Sans"/>
              </a:defRPr>
            </a:pPr>
            <a:r>
              <a:t>Каталог, доступы и обращения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02 · ПОЛЬЗОВАТЕЛЬСКИЕ ТРЕБОВАНИЯ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Что нужно пользователям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Требования выражены через задачи каждой роли.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03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450592"/>
            <a:ext cx="5440680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633472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FF782E"/>
                </a:solidFill>
                <a:latin typeface="DejaVu Sans"/>
              </a:defRPr>
            </a:pPr>
            <a:r>
              <a:t>ПОКУПАТЕЛЬ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044952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Выбрать и заказать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657600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0664" y="352958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Найти блюдо, собрать корзину, видеть итог.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450592"/>
            <a:ext cx="5440680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633472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FF782E"/>
                </a:solidFill>
                <a:latin typeface="DejaVu Sans"/>
              </a:defRPr>
            </a:pPr>
            <a:r>
              <a:t>КУРЬЕР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044952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Получить и доставить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57600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37376" y="352958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Принять предложение и подтвердить наличные.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297680"/>
            <a:ext cx="5440680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480560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КУХНЯ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892040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Приготовить и выдать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5504688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40664" y="537667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Видеть очередь и отмечать готовность заказа.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4297680"/>
            <a:ext cx="5440680" cy="157276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480560"/>
            <a:ext cx="5020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АДМИНИСТРАТОР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892040"/>
            <a:ext cx="50200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Настроить и помочь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504688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37376" y="537667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Управлять меню, доступами и проблемами.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03 · ФУНКЦИОНАЛЬНЫЕ ТРЕБОВАНИЯ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Как система выполняет заказ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Каждый переход проверяется сервером и отражается в истории заказа.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04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514600"/>
            <a:ext cx="2075688" cy="1078992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6517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063240"/>
            <a:ext cx="18105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1">
                <a:solidFill>
                  <a:srgbClr val="F5F2EA"/>
                </a:solidFill>
                <a:latin typeface="DejaVu Sans"/>
              </a:defRPr>
            </a:pPr>
            <a:r>
              <a:t>Принят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92608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0">
                <a:solidFill>
                  <a:srgbClr val="B4BAB3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514600"/>
            <a:ext cx="2075688" cy="1078992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6517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063240"/>
            <a:ext cx="18105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1">
                <a:solidFill>
                  <a:srgbClr val="F5F2EA"/>
                </a:solidFill>
                <a:latin typeface="DejaVu Sans"/>
              </a:defRPr>
            </a:pPr>
            <a:r>
              <a:t>Готовится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92608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0">
                <a:solidFill>
                  <a:srgbClr val="B4BAB3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514600"/>
            <a:ext cx="2075688" cy="1078992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63240"/>
            <a:ext cx="18105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1">
                <a:solidFill>
                  <a:srgbClr val="F5F2EA"/>
                </a:solidFill>
                <a:latin typeface="DejaVu Sans"/>
              </a:defRPr>
            </a:pPr>
            <a:r>
              <a:t>Готов к выдаче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2608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0">
                <a:solidFill>
                  <a:srgbClr val="B4BAB3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2514600"/>
            <a:ext cx="2075688" cy="1078992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26517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063240"/>
            <a:ext cx="18105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1">
                <a:solidFill>
                  <a:srgbClr val="F5F2EA"/>
                </a:solidFill>
                <a:latin typeface="DejaVu Sans"/>
              </a:defRPr>
            </a:pPr>
            <a:r>
              <a:t>В пути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2926080"/>
            <a:ext cx="1737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0">
                <a:solidFill>
                  <a:srgbClr val="B4BAB3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514600"/>
            <a:ext cx="2075688" cy="1078992"/>
          </a:xfrm>
          <a:prstGeom prst="roundRect">
            <a:avLst>
              <a:gd name="adj" fmla="val 12000"/>
            </a:avLst>
          </a:prstGeom>
          <a:solidFill>
            <a:srgbClr val="FF7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6517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141515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3063240"/>
            <a:ext cx="181051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1">
                <a:solidFill>
                  <a:srgbClr val="141515"/>
                </a:solidFill>
                <a:latin typeface="DejaVu Sans"/>
              </a:defRPr>
            </a:pPr>
            <a:r>
              <a:t>Доставлен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1513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КОРРЕКТНОЕ ОФОРМЛЕНИЕ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745736"/>
            <a:ext cx="35661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Снимок цен и контактов.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Один UUID — один заказ.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1513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АВТОНАЗНАЧЕНИЕ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4745736"/>
            <a:ext cx="35661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Персональное предложение — 60 с.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Нужны смена, одобрение и GPS.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41513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КОНТРОЛЬ И ОПЛАТА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3" y="4745736"/>
            <a:ext cx="356616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Наличные подтверждает курьер.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После начала готовки — обращение.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04 · ДИЗАЙН И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Адаптивный интерфейс на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Графитовая тема, тёплые акценты и ясные состояния заказа.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05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468880"/>
            <a:ext cx="6217920" cy="338328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reet-home.png"/>
          <p:cNvPicPr>
            <a:picLocks noChangeAspect="1"/>
          </p:cNvPicPr>
          <p:nvPr/>
        </p:nvPicPr>
        <p:blipFill>
          <a:blip r:embed="rId2"/>
          <a:srcRect b="68772"/>
          <a:stretch>
            <a:fillRect/>
          </a:stretch>
        </p:blipFill>
        <p:spPr>
          <a:xfrm>
            <a:off x="667512" y="2606040"/>
            <a:ext cx="594360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2505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СЕРВЕР И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4436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000" b="1">
                <a:solidFill>
                  <a:srgbClr val="F5F2EA"/>
                </a:solidFill>
                <a:latin typeface="DejaVu Sans"/>
              </a:defRPr>
            </a:pPr>
            <a:r>
              <a:t>Python 3.12+ · Django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2000" b="1">
                <a:solidFill>
                  <a:srgbClr val="F5F2EA"/>
                </a:solidFill>
                <a:latin typeface="DejaVu Sans"/>
              </a:defRPr>
            </a:pPr>
            <a:r>
              <a:t>SQLite / 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931920"/>
            <a:ext cx="4526280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16966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ИНТЕРФЕЙС И ПРОЦЕССЫ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608576"/>
            <a:ext cx="448056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700" b="0">
                <a:solidFill>
                  <a:srgbClr val="F5F2EA"/>
                </a:solidFill>
                <a:latin typeface="DejaVu Sans"/>
              </a:defRPr>
            </a:pPr>
            <a:r>
              <a:t>HTML · CSS · JavaScript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700" b="0">
                <a:solidFill>
                  <a:srgbClr val="F5F2EA"/>
                </a:solidFill>
                <a:latin typeface="DejaVu Sans"/>
              </a:defRPr>
            </a:pPr>
            <a:r>
              <a:t>Веб-процесс + диспетчер заказов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076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0">
                <a:solidFill>
                  <a:srgbClr val="B4BAB3"/>
                </a:solidFill>
                <a:latin typeface="DejaVu Sans"/>
              </a:defRPr>
            </a:pPr>
            <a:r>
              <a:t>Меню, корзина и заказ по адресу работают без JavaScript. Карта и GPS требуют JavaScript.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05 · ИНТЕГРАЦИИ И КАЧЕСТВО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Надёжность важна на каждом этапе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Система проверяет данные и права; внешние сервисы подключаются по необходимости.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06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468880"/>
            <a:ext cx="3547872" cy="324612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65176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FF782E"/>
                </a:solidFill>
                <a:latin typeface="DejaVu Sans"/>
              </a:defRPr>
            </a:pPr>
            <a:r>
              <a:t>01 / БЕЗОПАСНОСТЬ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063240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Разделение прав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675888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POST и CSRF для изменений.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Только свои заказы.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Секреты вне репозитория.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468880"/>
            <a:ext cx="3547872" cy="324612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65176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B9DE75"/>
                </a:solidFill>
                <a:latin typeface="DejaVu Sans"/>
              </a:defRPr>
            </a:pPr>
            <a:r>
              <a:t>02 / ИНТЕГРАЦИИ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63240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Карта и почта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75888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Leaflet + OpenStreetMap.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GPS по разрешению.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SMTP для реальных писем.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2468880"/>
            <a:ext cx="3547872" cy="324612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65176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000" b="1">
                <a:solidFill>
                  <a:srgbClr val="FF782E"/>
                </a:solidFill>
                <a:latin typeface="DejaVu Sans"/>
              </a:defRPr>
            </a:pPr>
            <a:r>
              <a:t>03 / КАЧЕСТВО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63240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100" b="1">
                <a:solidFill>
                  <a:srgbClr val="F5F2EA"/>
                </a:solidFill>
                <a:latin typeface="DejaVu Sans"/>
              </a:defRPr>
            </a:pPr>
            <a:r>
              <a:t>Контроль качества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675888"/>
            <a:ext cx="31272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Тесты Django и Ruff.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Транзакции и ограничения БД.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B4BAB3"/>
                </a:solidFill>
                <a:latin typeface="DejaVu Sans"/>
              </a:defRPr>
            </a:pPr>
            <a:r>
              <a:t>Контроль работы диспетчера.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4BAB3"/>
                </a:solidFill>
                <a:latin typeface="DejaVu Sans"/>
              </a:defRPr>
            </a:pPr>
            <a:r>
              <a:t>Отказ GPS или карты не блокирует заказ по адресу. Банковская оплата и push не включены.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06 · КОМАНДА, БЮДЖЕТ И СРОКИ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Два участника — общая ответственность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Роли совмещаются; значимые изменения проверяет второй участник.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07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450592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7064" y="2450592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426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200" b="1">
                <a:solidFill>
                  <a:srgbClr val="F5F2EA"/>
                </a:solidFill>
                <a:latin typeface="DejaVu Sans"/>
              </a:defRPr>
            </a:pPr>
            <a:r>
              <a:t>Саидов Шохжахон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55264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Координация · backend · база данных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Диспетчер · среда · серверные тесты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426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2200" b="1">
                <a:solidFill>
                  <a:srgbClr val="F5F2EA"/>
                </a:solidFill>
                <a:latin typeface="DejaVu Sans"/>
              </a:defRPr>
            </a:pPr>
            <a:r>
              <a:t>Самиев Аюбхон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55264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Анализ требований · frontend · UI/UX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400" b="0">
                <a:solidFill>
                  <a:srgbClr val="B4BAB3"/>
                </a:solidFill>
                <a:latin typeface="DejaVu Sans"/>
              </a:defRPr>
            </a:pPr>
            <a:r>
              <a:t>Сценарии и проверка интерфейса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ПРЕДЛАГАЕМЫЙ УЧЕБНЫЙ ПЛАН — 4 НЕДЕЛИ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19472"/>
            <a:ext cx="2578608" cy="10972"/>
          </a:xfrm>
          <a:prstGeom prst="rect">
            <a:avLst/>
          </a:prstGeom>
          <a:solidFill>
            <a:srgbClr val="FF7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97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5F2EA"/>
                </a:solidFill>
                <a:latin typeface="DejaVu Sans"/>
              </a:defRPr>
            </a:pPr>
            <a:r>
              <a:t>01 / АНАЛИЗ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229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300" b="0">
                <a:solidFill>
                  <a:srgbClr val="B4BAB3"/>
                </a:solidFill>
                <a:latin typeface="DejaVu Sans"/>
              </a:defRPr>
            </a:pPr>
            <a:r>
              <a:t>Требования и роли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919472"/>
            <a:ext cx="2578608" cy="10972"/>
          </a:xfrm>
          <a:prstGeom prst="rect">
            <a:avLst/>
          </a:prstGeom>
          <a:solidFill>
            <a:srgbClr val="FF7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1297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5F2EA"/>
                </a:solidFill>
                <a:latin typeface="DejaVu Sans"/>
              </a:defRPr>
            </a:pPr>
            <a:r>
              <a:t>02 / СЕРВЕР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229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300" b="0">
                <a:solidFill>
                  <a:srgbClr val="B4BAB3"/>
                </a:solidFill>
                <a:latin typeface="DejaVu Sans"/>
              </a:defRPr>
            </a:pPr>
            <a:r>
              <a:t>Данные и права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919472"/>
            <a:ext cx="2578608" cy="10972"/>
          </a:xfrm>
          <a:prstGeom prst="rect">
            <a:avLst/>
          </a:prstGeom>
          <a:solidFill>
            <a:srgbClr val="FF7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1297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5F2EA"/>
                </a:solidFill>
                <a:latin typeface="DejaVu Sans"/>
              </a:defRPr>
            </a:pPr>
            <a:r>
              <a:t>03 / ИНТЕРФЕЙС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229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300" b="0">
                <a:solidFill>
                  <a:srgbClr val="B4BAB3"/>
                </a:solidFill>
                <a:latin typeface="DejaVu Sans"/>
              </a:defRPr>
            </a:pPr>
            <a:r>
              <a:t>Формы и кабинеты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4919472"/>
            <a:ext cx="2578608" cy="10972"/>
          </a:xfrm>
          <a:prstGeom prst="rect">
            <a:avLst/>
          </a:prstGeom>
          <a:solidFill>
            <a:srgbClr val="FF7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1297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5F2EA"/>
                </a:solidFill>
                <a:latin typeface="DejaVu Sans"/>
              </a:defRPr>
            </a:pPr>
            <a:r>
              <a:t>04 / ПРИЁМКА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5229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300" b="0">
                <a:solidFill>
                  <a:srgbClr val="B4BAB3"/>
                </a:solidFill>
                <a:latin typeface="DejaVu Sans"/>
              </a:defRPr>
            </a:pPr>
            <a:r>
              <a:t>Тесты и защита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533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0">
                <a:solidFill>
                  <a:srgbClr val="B4BAB3"/>
                </a:solidFill>
                <a:latin typeface="DejaVu Sans"/>
              </a:defRPr>
            </a:pPr>
            <a:r>
              <a:t>Бюджет: 0 сум прямых расходов при локальной работе; хостинг и домен оцениваются отдельно.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ТЁПЛО /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65176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1000" b="0">
                <a:solidFill>
                  <a:srgbClr val="B4BAB3"/>
                </a:solidFill>
                <a:latin typeface="DejaVu Sans"/>
              </a:defRPr>
            </a:pPr>
            <a:r>
              <a:t>07 · РЕЗУЛЬТАТ И КРИТЕРИИ УСПЕХА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3100" b="1">
                <a:solidFill>
                  <a:srgbClr val="F5F2EA"/>
                </a:solidFill>
                <a:latin typeface="DejaVu Sans"/>
              </a:defRPr>
            </a:pPr>
            <a:r>
              <a:t>Что подтверждено и что проверить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556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B4BAB3"/>
                </a:solidFill>
                <a:latin typeface="DejaVu Sans"/>
              </a:defRPr>
            </a:pPr>
            <a:r>
              <a:t>Результаты настройки текущей среды — отдельно от полной приёмки продукта.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0972"/>
          </a:xfrm>
          <a:prstGeom prst="rect">
            <a:avLst/>
          </a:prstGeom>
          <a:solidFill>
            <a:srgbClr val="373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800" b="0">
                <a:solidFill>
                  <a:srgbClr val="B4BAB3"/>
                </a:solidFill>
                <a:latin typeface="DejaVu Sans"/>
              </a:defRPr>
            </a:pPr>
            <a:r>
              <a:t>FAST FOOD DELIVERY   ·   САИДОВ ШОХЖАХОН / САМИЕВ АЮБХОН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0528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00"/>
              </a:spcAft>
              <a:defRPr sz="900" b="0">
                <a:solidFill>
                  <a:srgbClr val="B9DE75"/>
                </a:solidFill>
                <a:latin typeface="DejaVu Sans"/>
              </a:defRPr>
            </a:pPr>
            <a:r>
              <a:t>08 /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423160"/>
            <a:ext cx="3547872" cy="148132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32888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4500" b="1">
                <a:solidFill>
                  <a:srgbClr val="B9DE75"/>
                </a:solidFill>
                <a:latin typeface="DejaVu Sans"/>
              </a:defRPr>
            </a:pPr>
            <a:r>
              <a:t>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779776"/>
            <a:ext cx="1865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F5F2EA"/>
                </a:solidFill>
                <a:latin typeface="DejaVu Sans"/>
              </a:defRPr>
            </a:pPr>
            <a:r>
              <a:t>тестов прошли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423160"/>
            <a:ext cx="3547872" cy="148132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532888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4500" b="1">
                <a:solidFill>
                  <a:srgbClr val="FF782E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2779776"/>
            <a:ext cx="1865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F5F2EA"/>
                </a:solidFill>
                <a:latin typeface="DejaVu Sans"/>
              </a:defRPr>
            </a:pPr>
            <a:r>
              <a:t>требуют 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423160"/>
            <a:ext cx="3547872" cy="1481328"/>
          </a:xfrm>
          <a:prstGeom prst="roundRect">
            <a:avLst>
              <a:gd name="adj" fmla="val 12000"/>
            </a:avLst>
          </a:prstGeom>
          <a:solidFill>
            <a:srgbClr val="2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2532888"/>
            <a:ext cx="1280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4500" b="1">
                <a:solidFill>
                  <a:srgbClr val="F5F2E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779776"/>
            <a:ext cx="186537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500" b="0">
                <a:solidFill>
                  <a:srgbClr val="F5F2EA"/>
                </a:solidFill>
                <a:latin typeface="DejaVu Sans"/>
              </a:defRPr>
            </a:pPr>
            <a:r>
              <a:t>стартовых блюд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B9DE75"/>
                </a:solidFill>
                <a:latin typeface="DejaVu Sans"/>
              </a:defRPr>
            </a:pPr>
            <a:r>
              <a:t>ПРОВЕРЕНО В СРЕДЕ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53492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Миграции, Ruff и сборка статики.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HTTP-ответы меню и форм.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Свежая отметка работы диспетчера.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251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100" b="1">
                <a:solidFill>
                  <a:srgbClr val="FF782E"/>
                </a:solidFill>
                <a:latin typeface="DejaVu Sans"/>
              </a:defRPr>
            </a:pPr>
            <a:r>
              <a:t>ДЛЯ ПОЛНОЙ ПРИЁМКИ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709160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Полный заказ через четыре роли.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Конкурентные тесты PostgreSQL.</a:t>
            </a:r>
          </a:p>
          <a:p>
            <a:pPr>
              <a:lnSpc>
                <a:spcPct val="112000"/>
              </a:lnSpc>
              <a:spcAft>
                <a:spcPts val="900"/>
              </a:spcAft>
              <a:defRPr sz="1600" b="0">
                <a:solidFill>
                  <a:srgbClr val="F5F2EA"/>
                </a:solidFill>
                <a:latin typeface="DejaVu Sans"/>
              </a:defRPr>
            </a:pPr>
            <a:r>
              <a:t>Браузеры, адаптивность и реальная почта.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533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defRPr sz="1200" b="0">
                <a:solidFill>
                  <a:srgbClr val="B9DE75"/>
                </a:solidFill>
                <a:latin typeface="DejaVu Sans"/>
              </a:defRPr>
            </a:pPr>
            <a:r>
              <a:t>Критерий успеха: заказ доставлен, наличные подтверждены, данные и права сохранены.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Тёпло · Fast Food Delivery — требования к проекту</dc:title>
  <dc:subject>Презентация учебного проекта, 8 слайдов</dc:subject>
  <dc:creator>Саидов Шохжахон; Самиев Аюбхон</dc:creator>
  <cp:keywords>Django, доставка еды, требования, учебный проект</cp:keywords>
  <dc:description>Подготовлено по инструкции: описание проекта, команда, пользовательские и функциональные требования.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